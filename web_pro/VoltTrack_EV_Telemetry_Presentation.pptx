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2011680" cy="4114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30613"/>
                </a:solidFill>
                <a:latin typeface="Segoe UI"/>
              </a:defRPr>
            </a:pPr>
            <a:r>
              <a:t>⚡ VoltTrack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111827"/>
                </a:solidFill>
                <a:latin typeface="Segoe UI"/>
              </a:defRPr>
            </a:pPr>
            <a:r>
              <a:t>VoltTrack — EV Telemetry &amp;</a:t>
            </a:r>
            <a:br/>
            <a:r>
              <a:t>Driver Monitoring System</a:t>
            </a:r>
          </a:p>
          <a:p>
            <a:pPr>
              <a:defRPr sz="1800">
                <a:solidFill>
                  <a:srgbClr val="4B5563"/>
                </a:solidFill>
                <a:latin typeface="Segoe UI"/>
              </a:defRPr>
            </a:pPr>
            <a:r>
              <a:t>A Full-Stack Fleet Management &amp; Analytics Platform for Electric Vehicles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937760"/>
            <a:ext cx="9966960" cy="10972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50749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1827"/>
                </a:solidFill>
                <a:latin typeface="Segoe UI"/>
              </a:defRPr>
            </a:pPr>
            <a:r>
              <a:t>Project Presentation  |  Full-Stack &amp; Machine Learning Capstone</a:t>
            </a:r>
          </a:p>
          <a:p>
            <a:pPr>
              <a:defRPr sz="1200">
                <a:solidFill>
                  <a:srgbClr val="4B5563"/>
                </a:solidFill>
                <a:latin typeface="Segoe UI"/>
              </a:defRPr>
            </a:pPr>
            <a:r>
              <a:t>Prepared for Project &amp; Portfolio Review  •  Date: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30613"/>
                </a:solidFill>
                <a:latin typeface="Segoe UI"/>
              </a:defRPr>
            </a:pPr>
            <a:r>
              <a:t>01 |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Segoe UI"/>
              </a:defRPr>
            </a:pPr>
            <a:r>
              <a:t>The Challenge in Modern EV Fleet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VoltTrack — EV Telemetry &amp;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Slide 2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120640" cy="4480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30613"/>
                </a:solidFill>
                <a:latin typeface="Segoe UI"/>
              </a:defRPr>
            </a:pPr>
            <a:r>
              <a:t>⚠️ The Operational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b="1" sz="1300">
                <a:solidFill>
                  <a:srgbClr val="111827"/>
                </a:solidFill>
              </a:defRPr>
            </a:pPr>
            <a:r>
              <a:t>• Data Fragmentation: </a:t>
            </a:r>
            <a:r>
              <a:rPr b="0" sz="1200">
                <a:solidFill>
                  <a:srgbClr val="4B5563"/>
                </a:solidFill>
              </a:rPr>
              <a:t>EV fleet operators manage thousands of telemetry signals, but battery health, vehicle location, driver behavior, and charging status are scattered across disconnected systems.</a:t>
            </a:r>
          </a:p>
          <a:p>
            <a:pPr>
              <a:spcBef>
                <a:spcPts val="800"/>
              </a:spcBef>
              <a:defRPr b="1" sz="1300">
                <a:solidFill>
                  <a:srgbClr val="111827"/>
                </a:solidFill>
              </a:defRPr>
            </a:pPr>
            <a:r>
              <a:t>• Invisible Downtime Risks: </a:t>
            </a:r>
            <a:r>
              <a:rPr b="0" sz="1200">
                <a:solidFill>
                  <a:srgbClr val="4B5563"/>
                </a:solidFill>
              </a:rPr>
              <a:t>Without continuous monitoring of State of Charge (SoC) and State of Health (SoH), unexpected range anxiety and unpredicted battery degradation lead to severe operational delays.</a:t>
            </a:r>
          </a:p>
          <a:p>
            <a:pPr>
              <a:spcBef>
                <a:spcPts val="800"/>
              </a:spcBef>
              <a:defRPr b="1" sz="1300">
                <a:solidFill>
                  <a:srgbClr val="111827"/>
                </a:solidFill>
              </a:defRPr>
            </a:pPr>
            <a:r>
              <a:t>• Lack of Driver Visibility: </a:t>
            </a:r>
            <a:r>
              <a:rPr b="0" sz="1200">
                <a:solidFill>
                  <a:srgbClr val="4B5563"/>
                </a:solidFill>
              </a:rPr>
              <a:t>Drivers lack a personalized cockpit view to track live range estimates, trip efficiency ratings, eco-scores, and nearby compatible charging stations.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480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Segoe UI"/>
              </a:defRPr>
            </a:pPr>
            <a:r>
              <a:t>🎯 Why It Matters 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9456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b="1" sz="1300">
                <a:solidFill>
                  <a:srgbClr val="111827"/>
                </a:solidFill>
              </a:defRPr>
            </a:pPr>
            <a:r>
              <a:t>• Rapid EV Adoption: </a:t>
            </a:r>
            <a:r>
              <a:rPr b="0" sz="1200">
                <a:solidFill>
                  <a:srgbClr val="4B5563"/>
                </a:solidFill>
              </a:rPr>
              <a:t>Commercial fleets are rapidly transitioning to electric powertrains, requiring specialized fleet management software built specifically for EV metrics.</a:t>
            </a:r>
          </a:p>
          <a:p>
            <a:pPr>
              <a:spcBef>
                <a:spcPts val="800"/>
              </a:spcBef>
              <a:defRPr b="1" sz="1300">
                <a:solidFill>
                  <a:srgbClr val="111827"/>
                </a:solidFill>
              </a:defRPr>
            </a:pPr>
            <a:r>
              <a:t>• High Operating Expenses: </a:t>
            </a:r>
            <a:r>
              <a:rPr b="0" sz="1200">
                <a:solidFill>
                  <a:srgbClr val="4B5563"/>
                </a:solidFill>
              </a:rPr>
              <a:t>Unplanned maintenance and inefficient charging schedules increase total cost of ownership (TCO) significantly.</a:t>
            </a:r>
          </a:p>
          <a:p>
            <a:pPr>
              <a:spcBef>
                <a:spcPts val="800"/>
              </a:spcBef>
              <a:defRPr b="1" sz="1300">
                <a:solidFill>
                  <a:srgbClr val="111827"/>
                </a:solidFill>
              </a:defRPr>
            </a:pPr>
            <a:r>
              <a:t>• Driver Safety &amp; Longevity: </a:t>
            </a:r>
            <a:r>
              <a:rPr b="0" sz="1200">
                <a:solidFill>
                  <a:srgbClr val="4B5563"/>
                </a:solidFill>
              </a:rPr>
              <a:t>Monitoring driving behavior directly impacts battery life cycle, vehicle safety, and insurance liabilities.</a:t>
            </a:r>
          </a:p>
          <a:p>
            <a:pPr>
              <a:spcBef>
                <a:spcPts val="800"/>
              </a:spcBef>
              <a:defRPr b="1" sz="1300">
                <a:solidFill>
                  <a:srgbClr val="111827"/>
                </a:solidFill>
              </a:defRPr>
            </a:pPr>
            <a:r>
              <a:t>• Sustainability Tracking: </a:t>
            </a:r>
            <a:r>
              <a:rPr b="0" sz="1200">
                <a:solidFill>
                  <a:srgbClr val="4B5563"/>
                </a:solidFill>
              </a:rPr>
              <a:t>Fleet operators require accurate CO2 reduction measurements and energy consumption reporting for ESG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30613"/>
                </a:solidFill>
                <a:latin typeface="Segoe UI"/>
              </a:defRPr>
            </a:pPr>
            <a:r>
              <a:t>02 |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Segoe UI"/>
              </a:defRPr>
            </a:pPr>
            <a:r>
              <a:t>Core Platform Goals &amp;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VoltTrack — EV Telemetry &amp;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Slide 3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2103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645920"/>
            <a:ext cx="73152" cy="3200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27632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11827"/>
                </a:solidFill>
                <a:latin typeface="Segoe UI"/>
              </a:defRPr>
            </a:pPr>
            <a:r>
              <a:t>🔐 Role-Based Access Control</a:t>
            </a:r>
          </a:p>
          <a:p>
            <a:pPr>
              <a:defRPr sz="1200">
                <a:solidFill>
                  <a:srgbClr val="4B5563"/>
                </a:solidFill>
                <a:latin typeface="Segoe UI"/>
              </a:defRPr>
            </a:pPr>
            <a:r>
              <a:t>Build an enterprise portal with separate Admin and Driver workflows. Admins monitor overall fleet KPIs, drivers, and revenue while drivers get a focused vehicle cockpit 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2103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73152" cy="3200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627632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11827"/>
                </a:solidFill>
                <a:latin typeface="Segoe UI"/>
              </a:defRPr>
            </a:pPr>
            <a:r>
              <a:t>⚡ Real-Time EV Telemetry</a:t>
            </a:r>
          </a:p>
          <a:p>
            <a:pPr>
              <a:defRPr sz="1200">
                <a:solidFill>
                  <a:srgbClr val="4B5563"/>
                </a:solidFill>
                <a:latin typeface="Segoe UI"/>
              </a:defRPr>
            </a:pPr>
            <a:r>
              <a:t>Track continuous telemetry parameters including State of Charge (SoC), State of Health (SoH), live GPS location, speed, odometer readings, and maintenance due alerts across 15,000+ vehicles.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5212080" cy="2103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023360"/>
            <a:ext cx="73152" cy="3200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005072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11827"/>
                </a:solidFill>
                <a:latin typeface="Segoe UI"/>
              </a:defRPr>
            </a:pPr>
            <a:r>
              <a:t>🚗 Driver Cockpit Experience</a:t>
            </a:r>
          </a:p>
          <a:p>
            <a:pPr>
              <a:defRPr sz="1200">
                <a:solidFill>
                  <a:srgbClr val="4B5563"/>
                </a:solidFill>
                <a:latin typeface="Segoe UI"/>
              </a:defRPr>
            </a:pPr>
            <a:r>
              <a:t>Empower drivers with a personalized cockpit view featuring live range estimations, interactive maps, nearby charging station locations via Open Charge Map API, and trip PDF downloads.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40480"/>
            <a:ext cx="5212080" cy="2103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4023360"/>
            <a:ext cx="73152" cy="3200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005072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11827"/>
                </a:solidFill>
                <a:latin typeface="Segoe UI"/>
              </a:defRPr>
            </a:pPr>
            <a:r>
              <a:t>🤖 ML Range Prediction Model</a:t>
            </a:r>
          </a:p>
          <a:p>
            <a:pPr>
              <a:defRPr sz="1200">
                <a:solidFill>
                  <a:srgbClr val="4B5563"/>
                </a:solidFill>
                <a:latin typeface="Segoe UI"/>
              </a:defRPr>
            </a:pPr>
            <a:r>
              <a:t>Implement a machine learning regression pipeline to accurately predict remaining battery range based on real-time telemetry inputs, vehicle specifications, and driving environmental factors.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30613"/>
                </a:solidFill>
                <a:latin typeface="Segoe UI"/>
              </a:defRPr>
            </a:pPr>
            <a:r>
              <a:t>03 |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Segoe UI"/>
              </a:defRPr>
            </a:pPr>
            <a:r>
              <a:t>Full-Stack Technology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VoltTrack — EV Telemetry &amp;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Slide 4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2468880" cy="4480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2468880" cy="6858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🎨 Frontend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200" b="1">
                <a:solidFill>
                  <a:srgbClr val="111827"/>
                </a:solidFill>
                <a:latin typeface="Segoe UI"/>
              </a:defRPr>
            </a:pPr>
            <a:r>
              <a:t>• React (Vite)</a:t>
            </a:r>
          </a:p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  High-performance SPA framework</a:t>
            </a:r>
          </a:p>
          <a:p>
            <a:pPr>
              <a:spcBef>
                <a:spcPts val="600"/>
              </a:spcBef>
              <a:defRPr sz="1200" b="1">
                <a:solidFill>
                  <a:srgbClr val="111827"/>
                </a:solidFill>
                <a:latin typeface="Segoe UI"/>
              </a:defRPr>
            </a:pPr>
            <a:r>
              <a:t>• Tailwind CSS</a:t>
            </a:r>
          </a:p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  Custom VoltTrack design system</a:t>
            </a:r>
          </a:p>
          <a:p>
            <a:pPr>
              <a:spcBef>
                <a:spcPts val="600"/>
              </a:spcBef>
              <a:defRPr sz="1200" b="1">
                <a:solidFill>
                  <a:srgbClr val="111827"/>
                </a:solidFill>
                <a:latin typeface="Segoe UI"/>
              </a:defRPr>
            </a:pPr>
            <a:r>
              <a:t>• Recharts</a:t>
            </a:r>
          </a:p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  Interactive analytical charts</a:t>
            </a:r>
          </a:p>
          <a:p>
            <a:pPr>
              <a:spcBef>
                <a:spcPts val="600"/>
              </a:spcBef>
              <a:defRPr sz="1200" b="1">
                <a:solidFill>
                  <a:srgbClr val="111827"/>
                </a:solidFill>
                <a:latin typeface="Segoe UI"/>
              </a:defRPr>
            </a:pPr>
            <a:r>
              <a:t>• Leaflet Maps</a:t>
            </a:r>
          </a:p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  Live GIS map integration</a:t>
            </a:r>
          </a:p>
          <a:p>
            <a:pPr>
              <a:spcBef>
                <a:spcPts val="600"/>
              </a:spcBef>
              <a:defRPr sz="1200" b="1">
                <a:solidFill>
                  <a:srgbClr val="111827"/>
                </a:solidFill>
                <a:latin typeface="Segoe UI"/>
              </a:defRPr>
            </a:pPr>
            <a:r>
              <a:t>• Lucide React</a:t>
            </a:r>
          </a:p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  Clean modern vector icon 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463040"/>
            <a:ext cx="2468880" cy="4480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1463040"/>
            <a:ext cx="2468880" cy="6858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60020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⚙️ Backend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24028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200" b="1">
                <a:solidFill>
                  <a:srgbClr val="111827"/>
                </a:solidFill>
                <a:latin typeface="Segoe UI"/>
              </a:defRPr>
            </a:pPr>
            <a:r>
              <a:t>• Node.js</a:t>
            </a:r>
          </a:p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  Asynchronous JavaScript runtime</a:t>
            </a:r>
          </a:p>
          <a:p>
            <a:pPr>
              <a:spcBef>
                <a:spcPts val="600"/>
              </a:spcBef>
              <a:defRPr sz="1200" b="1">
                <a:solidFill>
                  <a:srgbClr val="111827"/>
                </a:solidFill>
                <a:latin typeface="Segoe UI"/>
              </a:defRPr>
            </a:pPr>
            <a:r>
              <a:t>• Express.js 5</a:t>
            </a:r>
          </a:p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  RESTful API routes &amp; middleware</a:t>
            </a:r>
          </a:p>
          <a:p>
            <a:pPr>
              <a:spcBef>
                <a:spcPts val="600"/>
              </a:spcBef>
              <a:defRPr sz="1200" b="1">
                <a:solidFill>
                  <a:srgbClr val="111827"/>
                </a:solidFill>
                <a:latin typeface="Segoe UI"/>
              </a:defRPr>
            </a:pPr>
            <a:r>
              <a:t>• Prisma ORM</a:t>
            </a:r>
          </a:p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  Type-safe database mapping</a:t>
            </a:r>
          </a:p>
          <a:p>
            <a:pPr>
              <a:spcBef>
                <a:spcPts val="600"/>
              </a:spcBef>
              <a:defRPr sz="1200" b="1">
                <a:solidFill>
                  <a:srgbClr val="111827"/>
                </a:solidFill>
                <a:latin typeface="Segoe UI"/>
              </a:defRPr>
            </a:pPr>
            <a:r>
              <a:t>• Bcrypt Hashing</a:t>
            </a:r>
          </a:p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  Secure salted password security</a:t>
            </a:r>
          </a:p>
          <a:p>
            <a:pPr>
              <a:spcBef>
                <a:spcPts val="600"/>
              </a:spcBef>
              <a:defRPr sz="1200" b="1">
                <a:solidFill>
                  <a:srgbClr val="111827"/>
                </a:solidFill>
                <a:latin typeface="Segoe UI"/>
              </a:defRPr>
            </a:pPr>
            <a:r>
              <a:t>• JWT / Sessions</a:t>
            </a:r>
          </a:p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  Protected route authentication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2468880" cy="4480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463040"/>
            <a:ext cx="2468880" cy="6858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60020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🗄️ 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24028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200" b="1">
                <a:solidFill>
                  <a:srgbClr val="111827"/>
                </a:solidFill>
                <a:latin typeface="Segoe UI"/>
              </a:defRPr>
            </a:pPr>
            <a:r>
              <a:t>• PostgreSQL</a:t>
            </a:r>
          </a:p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  Enterprise relational database</a:t>
            </a:r>
          </a:p>
          <a:p>
            <a:pPr>
              <a:spcBef>
                <a:spcPts val="600"/>
              </a:spcBef>
              <a:defRPr sz="1200" b="1">
                <a:solidFill>
                  <a:srgbClr val="111827"/>
                </a:solidFill>
                <a:latin typeface="Segoe UI"/>
              </a:defRPr>
            </a:pPr>
            <a:r>
              <a:t>• Prisma Pg Adapter</a:t>
            </a:r>
          </a:p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  Optimized connection pool</a:t>
            </a:r>
          </a:p>
          <a:p>
            <a:pPr>
              <a:spcBef>
                <a:spcPts val="600"/>
              </a:spcBef>
              <a:defRPr sz="1200" b="1">
                <a:solidFill>
                  <a:srgbClr val="111827"/>
                </a:solidFill>
                <a:latin typeface="Segoe UI"/>
              </a:defRPr>
            </a:pPr>
            <a:r>
              <a:t>• 15k+ Vehicles</a:t>
            </a:r>
          </a:p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  Complete vehicle spec data</a:t>
            </a:r>
          </a:p>
          <a:p>
            <a:pPr>
              <a:spcBef>
                <a:spcPts val="600"/>
              </a:spcBef>
              <a:defRPr sz="1200" b="1">
                <a:solidFill>
                  <a:srgbClr val="111827"/>
                </a:solidFill>
                <a:latin typeface="Segoe UI"/>
              </a:defRPr>
            </a:pPr>
            <a:r>
              <a:t>• 15k+ Drivers</a:t>
            </a:r>
          </a:p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  Full identity &amp; license records</a:t>
            </a:r>
          </a:p>
          <a:p>
            <a:pPr>
              <a:spcBef>
                <a:spcPts val="600"/>
              </a:spcBef>
              <a:defRPr sz="1200" b="1">
                <a:solidFill>
                  <a:srgbClr val="111827"/>
                </a:solidFill>
                <a:latin typeface="Segoe UI"/>
              </a:defRPr>
            </a:pPr>
            <a:r>
              <a:t>• 180k+ Telemetry</a:t>
            </a:r>
          </a:p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  Monthly sensor log dataset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1463040"/>
            <a:ext cx="2468880" cy="4480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1463040"/>
            <a:ext cx="2468880" cy="6858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160020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🤖 ML &amp; External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24028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200" b="1">
                <a:solidFill>
                  <a:srgbClr val="111827"/>
                </a:solidFill>
                <a:latin typeface="Segoe UI"/>
              </a:defRPr>
            </a:pPr>
            <a:r>
              <a:t>• Python &amp; Pandas</a:t>
            </a:r>
          </a:p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  Data preprocessing &amp; feature eng.</a:t>
            </a:r>
          </a:p>
          <a:p>
            <a:pPr>
              <a:spcBef>
                <a:spcPts val="600"/>
              </a:spcBef>
              <a:defRPr sz="1200" b="1">
                <a:solidFill>
                  <a:srgbClr val="111827"/>
                </a:solidFill>
                <a:latin typeface="Segoe UI"/>
              </a:defRPr>
            </a:pPr>
            <a:r>
              <a:t>• scikit-learn</a:t>
            </a:r>
          </a:p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  Regression modeling algorithms</a:t>
            </a:r>
          </a:p>
          <a:p>
            <a:pPr>
              <a:spcBef>
                <a:spcPts val="600"/>
              </a:spcBef>
              <a:defRPr sz="1200" b="1">
                <a:solidFill>
                  <a:srgbClr val="111827"/>
                </a:solidFill>
                <a:latin typeface="Segoe UI"/>
              </a:defRPr>
            </a:pPr>
            <a:r>
              <a:t>• Linear &amp; Forest</a:t>
            </a:r>
          </a:p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  Evaluated multiple ML models</a:t>
            </a:r>
          </a:p>
          <a:p>
            <a:pPr>
              <a:spcBef>
                <a:spcPts val="600"/>
              </a:spcBef>
              <a:defRPr sz="1200" b="1">
                <a:solidFill>
                  <a:srgbClr val="111827"/>
                </a:solidFill>
                <a:latin typeface="Segoe UI"/>
              </a:defRPr>
            </a:pPr>
            <a:r>
              <a:t>• Open Charge Map</a:t>
            </a:r>
          </a:p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  Live external API for chargers</a:t>
            </a:r>
          </a:p>
          <a:p>
            <a:pPr>
              <a:spcBef>
                <a:spcPts val="600"/>
              </a:spcBef>
              <a:defRPr sz="1200" b="1">
                <a:solidFill>
                  <a:srgbClr val="111827"/>
                </a:solidFill>
                <a:latin typeface="Segoe UI"/>
              </a:defRPr>
            </a:pPr>
            <a:r>
              <a:t>• jsPDF &amp; AutoTable</a:t>
            </a:r>
          </a:p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  Client-side PDF report generator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30613"/>
                </a:solidFill>
                <a:latin typeface="Segoe UI"/>
              </a:defRPr>
            </a:pPr>
            <a:r>
              <a:t>04 |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Segoe UI"/>
              </a:defRPr>
            </a:pPr>
            <a:r>
              <a:t>End-to-End System Components &amp; Data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VoltTrack — EV Telemetry &amp;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Slide 5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383280" cy="20116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3383280" cy="73152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1827"/>
                </a:solidFill>
                <a:latin typeface="Segoe UI"/>
              </a:defRPr>
            </a:pPr>
            <a:r>
              <a:t>Client Frontend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 b="1">
                <a:solidFill>
                  <a:srgbClr val="E30613"/>
                </a:solidFill>
                <a:latin typeface="Segoe UI"/>
              </a:defRPr>
            </a:pPr>
            <a:r>
              <a:t>[React 18 + Vite SPA]</a:t>
            </a:r>
          </a:p>
          <a:p>
            <a:pPr>
              <a:defRPr sz="1100">
                <a:solidFill>
                  <a:srgbClr val="4B5563"/>
                </a:solidFill>
                <a:latin typeface="Segoe UI"/>
              </a:defRPr>
            </a:pPr>
            <a:r>
              <a:t>Admin Dashboard &amp; Driver Cockpit</a:t>
            </a:r>
            <a:br/>
            <a:r>
              <a:t>Recharts, Leaflet Maps, jsPDF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383280" cy="20116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463040"/>
            <a:ext cx="3383280" cy="73152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1827"/>
                </a:solidFill>
                <a:latin typeface="Segoe UI"/>
              </a:defRPr>
            </a:pPr>
            <a:r>
              <a:t>REST API Layer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 b="1">
                <a:solidFill>
                  <a:srgbClr val="E30613"/>
                </a:solidFill>
                <a:latin typeface="Segoe UI"/>
              </a:defRPr>
            </a:pPr>
            <a:r>
              <a:t>[Node.js + Express 5]</a:t>
            </a:r>
          </a:p>
          <a:p>
            <a:pPr>
              <a:defRPr sz="1100">
                <a:solidFill>
                  <a:srgbClr val="4B5563"/>
                </a:solidFill>
                <a:latin typeface="Segoe UI"/>
              </a:defRPr>
            </a:pPr>
            <a:r>
              <a:t>Admin &amp; Driver Route Handlers</a:t>
            </a:r>
            <a:br/>
            <a:r>
              <a:t>Auth Middleware, Controller Logic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383280" cy="20116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463040"/>
            <a:ext cx="3383280" cy="73152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11827"/>
                </a:solidFill>
                <a:latin typeface="Segoe UI"/>
              </a:defRPr>
            </a:pPr>
            <a:r>
              <a:t>Database Layer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 b="1">
                <a:solidFill>
                  <a:srgbClr val="E30613"/>
                </a:solidFill>
                <a:latin typeface="Segoe UI"/>
              </a:defRPr>
            </a:pPr>
            <a:r>
              <a:t>[PostgreSQL + Prisma]</a:t>
            </a:r>
          </a:p>
          <a:p>
            <a:pPr>
              <a:defRPr sz="1100">
                <a:solidFill>
                  <a:srgbClr val="4B5563"/>
                </a:solidFill>
                <a:latin typeface="Segoe UI"/>
              </a:defRPr>
            </a:pPr>
            <a:r>
              <a:t>15k Vehicles, 15k Drivers</a:t>
            </a:r>
            <a:br/>
            <a:r>
              <a:t>180k+ Telemetry Log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30613"/>
                </a:solidFill>
              </a:defRPr>
            </a:pPr>
            <a:r>
              <a:t>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30613"/>
                </a:solidFill>
              </a:defRPr>
            </a:pPr>
            <a:r>
              <a:t>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40480"/>
            <a:ext cx="5212080" cy="21031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977639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E30613"/>
                </a:solidFill>
                <a:latin typeface="Segoe UI"/>
              </a:defRPr>
            </a:pPr>
            <a:r>
              <a:t>🌐 External Service Integration (Open Charge Map)</a:t>
            </a:r>
          </a:p>
          <a:p>
            <a:pPr>
              <a:defRPr sz="1100">
                <a:solidFill>
                  <a:srgbClr val="111827"/>
                </a:solidFill>
                <a:latin typeface="Segoe UI"/>
              </a:defRPr>
            </a:pPr>
            <a:r>
              <a:t>• Client-side dynamic API queries fetched based on vehicle live GPS coordinates.</a:t>
            </a:r>
            <a:br/>
            <a:r>
              <a:t>• Returns nearby active charging stations with real-time operator, distance, and plug types.</a:t>
            </a:r>
            <a:br/>
            <a:r>
              <a:t>• Integrated seamlessly directly into the Driver Cockpit Leaflet map.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840480"/>
            <a:ext cx="5212080" cy="2103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977639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11827"/>
                </a:solidFill>
                <a:latin typeface="Segoe UI"/>
              </a:defRPr>
            </a:pPr>
            <a:r>
              <a:t>🤖 ML Range Prediction Pipeline (Python / scikit-learn)</a:t>
            </a:r>
          </a:p>
          <a:p>
            <a:pPr>
              <a:defRPr sz="1100">
                <a:solidFill>
                  <a:srgbClr val="4B5563"/>
                </a:solidFill>
                <a:latin typeface="Segoe UI"/>
              </a:defRPr>
            </a:pPr>
            <a:r>
              <a:t>• Offline model training pipeline trained on historical telemetry dataset.</a:t>
            </a:r>
            <a:br/>
            <a:r>
              <a:t>• Evaluates vehicle SoC %, temperature, speed, and battery specs to predict remaining range.</a:t>
            </a:r>
            <a:br/>
            <a:r>
              <a:t>• Designed to serve range prediction endpoints back into Express API for live inference.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30613"/>
                </a:solidFill>
                <a:latin typeface="Segoe UI"/>
              </a:defRPr>
            </a:pPr>
            <a:r>
              <a:t>05 | 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Segoe UI"/>
              </a:defRPr>
            </a:pPr>
            <a:r>
              <a:t>Relational Schema &amp; Enterprise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VoltTrack — EV Telemetry &amp;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Slide 6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669280" cy="4480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1827"/>
                </a:solidFill>
                <a:latin typeface="Segoe UI"/>
              </a:defRPr>
            </a:pPr>
            <a:r>
              <a:t>🗄️ Core Database Entities (Prisma Schema)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300" b="1">
                <a:solidFill>
                  <a:srgbClr val="E30613"/>
                </a:solidFill>
                <a:latin typeface="Segoe UI"/>
              </a:defRPr>
            </a:pPr>
            <a:r>
              <a:t>• Table: admins</a:t>
            </a:r>
          </a:p>
          <a:p>
            <a:pPr>
              <a:defRPr sz="1100">
                <a:solidFill>
                  <a:srgbClr val="4B5563"/>
                </a:solidFill>
                <a:latin typeface="Segoe UI"/>
              </a:defRPr>
            </a:pPr>
            <a:r>
              <a:t>  Fields: id, email, password_hash, full_name, role, created_at</a:t>
            </a:r>
          </a:p>
          <a:p>
            <a:pPr>
              <a:spcBef>
                <a:spcPts val="600"/>
              </a:spcBef>
              <a:defRPr sz="1300" b="1">
                <a:solidFill>
                  <a:srgbClr val="E30613"/>
                </a:solidFill>
                <a:latin typeface="Segoe UI"/>
              </a:defRPr>
            </a:pPr>
            <a:r>
              <a:t>• Table: drivers</a:t>
            </a:r>
          </a:p>
          <a:p>
            <a:pPr>
              <a:defRPr sz="1100">
                <a:solidFill>
                  <a:srgbClr val="4B5563"/>
                </a:solidFill>
                <a:latin typeface="Segoe UI"/>
              </a:defRPr>
            </a:pPr>
            <a:r>
              <a:t>  Fields: driver_id, full_name, email, phone, license_number, status</a:t>
            </a:r>
          </a:p>
          <a:p>
            <a:pPr>
              <a:spcBef>
                <a:spcPts val="600"/>
              </a:spcBef>
              <a:defRPr sz="1300" b="1">
                <a:solidFill>
                  <a:srgbClr val="E30613"/>
                </a:solidFill>
                <a:latin typeface="Segoe UI"/>
              </a:defRPr>
            </a:pPr>
            <a:r>
              <a:t>• Table: vehicles</a:t>
            </a:r>
          </a:p>
          <a:p>
            <a:pPr>
              <a:defRPr sz="1100">
                <a:solidFill>
                  <a:srgbClr val="4B5563"/>
                </a:solidFill>
                <a:latin typeface="Segoe UI"/>
              </a:defRPr>
            </a:pPr>
            <a:r>
              <a:t>  Fields: vin, model, manufacturer, battery_capacity_kwh, torque_nm, dimensions</a:t>
            </a:r>
          </a:p>
          <a:p>
            <a:pPr>
              <a:spcBef>
                <a:spcPts val="600"/>
              </a:spcBef>
              <a:defRPr sz="1300" b="1">
                <a:solidFill>
                  <a:srgbClr val="E30613"/>
                </a:solidFill>
                <a:latin typeface="Segoe UI"/>
              </a:defRPr>
            </a:pPr>
            <a:r>
              <a:t>• Table: telemetry_records</a:t>
            </a:r>
          </a:p>
          <a:p>
            <a:pPr>
              <a:defRPr sz="1100">
                <a:solidFill>
                  <a:srgbClr val="4B5563"/>
                </a:solidFill>
                <a:latin typeface="Segoe UI"/>
              </a:defRPr>
            </a:pPr>
            <a:r>
              <a:t>  Fields: id, vehicle_id, driver_id, soc_percent, soh_percent, range_km, speed, location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463040"/>
            <a:ext cx="47548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12280" y="1600200"/>
            <a:ext cx="1280160" cy="10515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1828800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30613"/>
                </a:solidFill>
                <a:latin typeface="Segoe UI"/>
              </a:defRPr>
            </a:pPr>
            <a:r>
              <a:t>15,000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6459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827"/>
                </a:solidFill>
                <a:latin typeface="Segoe UI"/>
              </a:defRPr>
            </a:pPr>
            <a:r>
              <a:t>Registered Fleet Vehicles</a:t>
            </a:r>
          </a:p>
          <a:p>
            <a:pPr>
              <a:spcBef>
                <a:spcPts val="300"/>
              </a:spcBef>
              <a:defRPr sz="1100">
                <a:solidFill>
                  <a:srgbClr val="4B5563"/>
                </a:solidFill>
                <a:latin typeface="Segoe UI"/>
              </a:defRPr>
            </a:pPr>
            <a:r>
              <a:t>Complete specs: dimensions, torque, battery kWh &amp; specs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2971800"/>
            <a:ext cx="47548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12280" y="3108960"/>
            <a:ext cx="1280160" cy="10515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3337560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30613"/>
                </a:solidFill>
                <a:latin typeface="Segoe UI"/>
              </a:defRPr>
            </a:pPr>
            <a:r>
              <a:t>15,000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1546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827"/>
                </a:solidFill>
                <a:latin typeface="Segoe UI"/>
              </a:defRPr>
            </a:pPr>
            <a:r>
              <a:t>Active Fleet Drivers</a:t>
            </a:r>
          </a:p>
          <a:p>
            <a:pPr>
              <a:spcBef>
                <a:spcPts val="300"/>
              </a:spcBef>
              <a:defRPr sz="1100">
                <a:solidFill>
                  <a:srgbClr val="4B5563"/>
                </a:solidFill>
                <a:latin typeface="Segoe UI"/>
              </a:defRPr>
            </a:pPr>
            <a:r>
              <a:t>Real driver profile data: license #, phone &amp; email contact info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4480560"/>
            <a:ext cx="47548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12280" y="4617720"/>
            <a:ext cx="1280160" cy="10515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4846320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30613"/>
                </a:solidFill>
                <a:latin typeface="Segoe UI"/>
              </a:defRPr>
            </a:pPr>
            <a:r>
              <a:t>180,000+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6634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827"/>
                </a:solidFill>
                <a:latin typeface="Segoe UI"/>
              </a:defRPr>
            </a:pPr>
            <a:r>
              <a:t>Monthly Telemetry Records</a:t>
            </a:r>
          </a:p>
          <a:p>
            <a:pPr>
              <a:spcBef>
                <a:spcPts val="300"/>
              </a:spcBef>
              <a:defRPr sz="1100">
                <a:solidFill>
                  <a:srgbClr val="4B5563"/>
                </a:solidFill>
                <a:latin typeface="Segoe UI"/>
              </a:defRPr>
            </a:pPr>
            <a:r>
              <a:t>Continuous sensor logs: SoC %, SoH %, speed &amp; GPS coordinates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30613"/>
                </a:solidFill>
                <a:latin typeface="Segoe UI"/>
              </a:defRPr>
            </a:pPr>
            <a:r>
              <a:t>06 | AUTHENTICATION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Segoe UI"/>
              </a:defRPr>
            </a:pPr>
            <a:r>
              <a:t>Multi-Tiered Access &amp; Protection Standards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VoltTrack — EV Telemetry &amp;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Slide 7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2103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9164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11827"/>
                </a:solidFill>
                <a:latin typeface="Segoe UI"/>
              </a:defRPr>
            </a:pPr>
            <a:r>
              <a:t>🔐 Dual Portal Role-Based Access</a:t>
            </a:r>
          </a:p>
          <a:p>
            <a:pPr>
              <a:defRPr sz="1200">
                <a:solidFill>
                  <a:srgbClr val="4B5563"/>
                </a:solidFill>
                <a:latin typeface="Segoe UI"/>
              </a:defRPr>
            </a:pPr>
            <a:r>
              <a:t>Separate login portals for Admins and Drivers ensure complete security isolation. Admins gain access to fleet-wide controls, while drivers only view their assigned vehicle telemetry.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2103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11827"/>
                </a:solidFill>
                <a:latin typeface="Segoe UI"/>
              </a:defRPr>
            </a:pPr>
            <a:r>
              <a:t>🛡️ Bcrypt Password Hashing</a:t>
            </a:r>
          </a:p>
          <a:p>
            <a:pPr>
              <a:defRPr sz="1200">
                <a:solidFill>
                  <a:srgbClr val="4B5563"/>
                </a:solidFill>
                <a:latin typeface="Segoe UI"/>
              </a:defRPr>
            </a:pPr>
            <a:r>
              <a:t>All user credentials (admins and drivers) are hashed using bcrypt with salt rounds before database insertion. Plaintext passwords are never logged or stored.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212080" cy="2103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06908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11827"/>
                </a:solidFill>
                <a:latin typeface="Segoe UI"/>
              </a:defRPr>
            </a:pPr>
            <a:r>
              <a:t>🔢 Auto-Generated Unique IDs</a:t>
            </a:r>
          </a:p>
          <a:p>
            <a:pPr>
              <a:defRPr sz="1200">
                <a:solidFill>
                  <a:srgbClr val="4B5563"/>
                </a:solidFill>
                <a:latin typeface="Segoe UI"/>
              </a:defRPr>
            </a:pPr>
            <a:r>
              <a:t>Smart ID generators ensure sequential pattern compliance for new registrants — auto-assigning IDs like ADM-1004 for admins and DRV-15024 for drivers seamlessly.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40480"/>
            <a:ext cx="5212080" cy="2103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06908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11827"/>
                </a:solidFill>
                <a:latin typeface="Segoe UI"/>
              </a:defRPr>
            </a:pPr>
            <a:r>
              <a:t>🔑 OTP Password Reset &amp; Guard</a:t>
            </a:r>
          </a:p>
          <a:p>
            <a:pPr>
              <a:defRPr sz="1200">
                <a:solidFill>
                  <a:srgbClr val="4B5563"/>
                </a:solidFill>
                <a:latin typeface="Segoe UI"/>
              </a:defRPr>
            </a:pPr>
            <a:r>
              <a:t>Includes a complete OTP-based password recovery flow with countdown timers. Admin account creation is restricted exclusively to authenticated existing admins.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30613"/>
                </a:solidFill>
                <a:latin typeface="Segoe UI"/>
              </a:defRPr>
            </a:pPr>
            <a:r>
              <a:t>07 | ADMIN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Segoe UI"/>
              </a:defRPr>
            </a:pPr>
            <a:r>
              <a:t>Fleet-Wide Real-Time Analytics &amp;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VoltTrack — EV Telemetry &amp;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Slide 8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20116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737360"/>
            <a:ext cx="137160" cy="13716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64592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11827"/>
                </a:solidFill>
                <a:latin typeface="Segoe UI"/>
              </a:defRPr>
            </a:pPr>
            <a:r>
              <a:t>📊 Fleet-Wide KPI Cards</a:t>
            </a:r>
          </a:p>
          <a:p>
            <a:pPr>
              <a:defRPr sz="1200">
                <a:solidFill>
                  <a:srgbClr val="4B5563"/>
                </a:solidFill>
                <a:latin typeface="Segoe UI"/>
              </a:defRPr>
            </a:pPr>
            <a:r>
              <a:t>Live counts for Total Vehicles, Active Working fleet, Vehicles in Garage for maintenance, and Vehicles currently Charging.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20116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1737360"/>
            <a:ext cx="137160" cy="13716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11827"/>
                </a:solidFill>
                <a:latin typeface="Segoe UI"/>
              </a:defRPr>
            </a:pPr>
            <a:r>
              <a:t>📈 Analytical Charts</a:t>
            </a:r>
          </a:p>
          <a:p>
            <a:pPr>
              <a:defRPr sz="1200">
                <a:solidFill>
                  <a:srgbClr val="4B5563"/>
                </a:solidFill>
                <a:latin typeface="Segoe UI"/>
              </a:defRPr>
            </a:pPr>
            <a:r>
              <a:t>Interactive Recharts visualizer for Revenue Leaderboard, Maintenance Status Breakdown, and Monthly Electricity Consumption.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40"/>
            <a:ext cx="5212080" cy="20116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5840" y="4023360"/>
            <a:ext cx="137160" cy="13716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3192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11827"/>
                </a:solidFill>
                <a:latin typeface="Segoe UI"/>
              </a:defRPr>
            </a:pPr>
            <a:r>
              <a:t>💡 Monthly Insights</a:t>
            </a:r>
          </a:p>
          <a:p>
            <a:pPr>
              <a:defRPr sz="1200">
                <a:solidFill>
                  <a:srgbClr val="4B5563"/>
                </a:solidFill>
                <a:latin typeface="Segoe UI"/>
              </a:defRPr>
            </a:pPr>
            <a:r>
              <a:t>Automated analytical highlights identifying the Highest Revenue Driver, Top Maintenance Manufacturer, and Peak Energy Usage.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749040"/>
            <a:ext cx="5212080" cy="20116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4023360"/>
            <a:ext cx="137160" cy="13716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393192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11827"/>
                </a:solidFill>
                <a:latin typeface="Segoe UI"/>
              </a:defRPr>
            </a:pPr>
            <a:r>
              <a:t>🔍 Vehicle Management Table</a:t>
            </a:r>
          </a:p>
          <a:p>
            <a:pPr>
              <a:defRPr sz="1200">
                <a:solidFill>
                  <a:srgbClr val="4B5563"/>
                </a:solidFill>
                <a:latin typeface="Segoe UI"/>
              </a:defRPr>
            </a:pPr>
            <a:r>
              <a:t>Searchable and filterable table displaying real-time SoC %, SoH %, maintenance status, and quick admin action triggers.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30613"/>
                </a:solidFill>
                <a:latin typeface="Segoe UI"/>
              </a:defRPr>
            </a:pPr>
            <a:r>
              <a:t>08 | DRIVER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Segoe UI"/>
              </a:defRPr>
            </a:pPr>
            <a:r>
              <a:t>Personalized EV Vehicle Cockpit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VoltTrack — EV Telemetry &amp;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Slide 9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383280" cy="20116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4592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11827"/>
                </a:solidFill>
                <a:latin typeface="Segoe UI"/>
              </a:defRPr>
            </a:pPr>
            <a:r>
              <a:t>⚡ Live Vehicle Identity &amp; Telemetry</a:t>
            </a:r>
          </a:p>
          <a:p>
            <a:pPr>
              <a:defRPr sz="1100">
                <a:solidFill>
                  <a:srgbClr val="4B5563"/>
                </a:solidFill>
                <a:latin typeface="Segoe UI"/>
              </a:defRPr>
            </a:pPr>
            <a:r>
              <a:t>Real-time battery State of Charge (SoC %), estimated range (km), battery health (SoH %), and current vehicle status.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7040880" cy="20116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45920"/>
            <a:ext cx="6583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11827"/>
                </a:solidFill>
                <a:latin typeface="Segoe UI"/>
              </a:defRPr>
            </a:pPr>
            <a:r>
              <a:t>🗺️ Interactive Map &amp; Charging Stations</a:t>
            </a:r>
          </a:p>
          <a:p>
            <a:pPr>
              <a:defRPr sz="1100">
                <a:solidFill>
                  <a:srgbClr val="4B5563"/>
                </a:solidFill>
                <a:latin typeface="Segoe UI"/>
              </a:defRPr>
            </a:pPr>
            <a:r>
              <a:t>Live vehicle location mapped on Leaflet GIS with nearby charging stations fetched dynamically from Open Charge Map API.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3383280" cy="2194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931919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11827"/>
                </a:solidFill>
                <a:latin typeface="Segoe UI"/>
              </a:defRPr>
            </a:pPr>
            <a:r>
              <a:t>🌱 Eco-Score &amp; Sustainability</a:t>
            </a:r>
          </a:p>
          <a:p>
            <a:pPr>
              <a:defRPr sz="1100">
                <a:solidFill>
                  <a:srgbClr val="4B5563"/>
                </a:solidFill>
                <a:latin typeface="Segoe UI"/>
              </a:defRPr>
            </a:pPr>
            <a:r>
              <a:t>Personalized driving efficiency score and calculated monthly CO2 emissions savings.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749039"/>
            <a:ext cx="3383280" cy="2194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3931919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11827"/>
                </a:solidFill>
                <a:latin typeface="Segoe UI"/>
              </a:defRPr>
            </a:pPr>
            <a:r>
              <a:t>📋 Trip History &amp; PDF Downloads</a:t>
            </a:r>
          </a:p>
          <a:p>
            <a:pPr>
              <a:defRPr sz="1100">
                <a:solidFill>
                  <a:srgbClr val="4B5563"/>
                </a:solidFill>
                <a:latin typeface="Segoe UI"/>
              </a:defRPr>
            </a:pPr>
            <a:r>
              <a:t>Complete log of recent trips with distance, energy used, and downloadable client-side PDF trip reports.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749039"/>
            <a:ext cx="3383280" cy="2194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3931919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11827"/>
                </a:solidFill>
                <a:latin typeface="Segoe UI"/>
              </a:defRPr>
            </a:pPr>
            <a:r>
              <a:t>⚠️ Proactive Alert Banner</a:t>
            </a:r>
          </a:p>
          <a:p>
            <a:pPr>
              <a:defRPr sz="1100">
                <a:solidFill>
                  <a:srgbClr val="4B5563"/>
                </a:solidFill>
                <a:latin typeface="Segoe UI"/>
              </a:defRPr>
            </a:pPr>
            <a:r>
              <a:t>Instant warning banners triggered for low battery levels (&lt;20%) or upcoming maintenance requirements.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30613"/>
                </a:solidFill>
                <a:latin typeface="Segoe UI"/>
              </a:defRPr>
            </a:pPr>
            <a:r>
              <a:t>09 |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Segoe UI"/>
              </a:defRPr>
            </a:pPr>
            <a:r>
              <a:t>Predictive Battery Range Estimation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VoltTrack — EV Telemetry &amp;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Slide 10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28655" cy="10058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E30613"/>
                </a:solidFill>
                <a:latin typeface="Segoe UI"/>
              </a:defRPr>
            </a:pPr>
            <a:r>
              <a:t>🎯 Objective: Predict EV Remaining Range (km) from Real-Time Telemetry &amp; Specs</a:t>
            </a:r>
          </a:p>
          <a:p>
            <a:pPr>
              <a:defRPr sz="1100">
                <a:solidFill>
                  <a:srgbClr val="111827"/>
                </a:solidFill>
                <a:latin typeface="Segoe UI"/>
              </a:defRPr>
            </a:pPr>
            <a:r>
              <a:t>Input Features: Battery SoC %, State of Health (SoH %), Speed (km/h), Temperature, Battery Capacity (kWh), &amp; Vehicle Weight.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743200"/>
          <a:ext cx="1072865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200400"/>
                <a:gridCol w="1828800"/>
                <a:gridCol w="3139135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 Name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Algorithm Type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R² Score (Accuracy)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Performance Evaluation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Standard OLS Linear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30613"/>
                          </a:solidFill>
                          <a:latin typeface="Segoe UI"/>
                        </a:defRPr>
                      </a:pPr>
                      <a:r>
                        <a:t>~0.85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Fast baseline, struggles with non-linear factors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Decision Tree Regressor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Non-Linear Decision Tree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30613"/>
                          </a:solidFill>
                          <a:latin typeface="Segoe UI"/>
                        </a:defRPr>
                      </a:pPr>
                      <a:r>
                        <a:t>~0.91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Captures non-linear feature interactions well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Random Forest Regressor 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Ensemble Tree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30613"/>
                          </a:solidFill>
                          <a:latin typeface="Segoe UI"/>
                        </a:defRPr>
                      </a:pPr>
                      <a:r>
                        <a:t>~0.96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  <a:latin typeface="Segoe UI"/>
                        </a:defRPr>
                      </a:pPr>
                      <a:r>
                        <a:t>Highest precision &amp; lowest error across test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31520" y="5303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B5563"/>
                </a:solidFill>
                <a:latin typeface="Segoe UI"/>
              </a:defRPr>
            </a:pPr>
            <a:r>
              <a:t>* Note: Model trained in Python using scikit-learn. R² metrics indicative of feature correlation runs in Jupyter notebook.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30613"/>
                </a:solidFill>
                <a:latin typeface="Segoe UI"/>
              </a:defRPr>
            </a:pPr>
            <a:r>
              <a:t>10 | APPLICATION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Segoe UI"/>
              </a:defRPr>
            </a:pPr>
            <a:r>
              <a:t>UI Screenshots &amp; Live Demo Placeholders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VoltTrack — EV Telemetry &amp;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Slide 11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12080" cy="2103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11827"/>
                </a:solidFill>
                <a:latin typeface="Segoe UI"/>
              </a:defRPr>
            </a:pPr>
            <a:r>
              <a:t>🖼️ Admin Dashboard View</a:t>
            </a:r>
          </a:p>
          <a:p>
            <a:pPr algn="ctr">
              <a:defRPr sz="1100">
                <a:solidFill>
                  <a:srgbClr val="4B5563"/>
                </a:solidFill>
                <a:latin typeface="Segoe UI"/>
              </a:defRPr>
            </a:pPr>
            <a:r>
              <a:t>Insert Screenshot:</a:t>
            </a:r>
            <a:br/>
            <a:r>
              <a:t>Admin Analytics, KPIs, Recharts &amp; Fleet Inventory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2103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11827"/>
                </a:solidFill>
                <a:latin typeface="Segoe UI"/>
              </a:defRPr>
            </a:pPr>
            <a:r>
              <a:t>🏎️ Driver Cockpit View</a:t>
            </a:r>
          </a:p>
          <a:p>
            <a:pPr algn="ctr">
              <a:defRPr sz="1100">
                <a:solidFill>
                  <a:srgbClr val="4B5563"/>
                </a:solidFill>
                <a:latin typeface="Segoe UI"/>
              </a:defRPr>
            </a:pPr>
            <a:r>
              <a:t>Insert Screenshot:</a:t>
            </a:r>
            <a:br/>
            <a:r>
              <a:t>Live Telemetry, SoC %, Range &amp; Dynamic Alerts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212080" cy="2103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0624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11827"/>
                </a:solidFill>
                <a:latin typeface="Segoe UI"/>
              </a:defRPr>
            </a:pPr>
            <a:r>
              <a:t>🔑 Dual Portal Auth &amp; OTP</a:t>
            </a:r>
          </a:p>
          <a:p>
            <a:pPr algn="ctr">
              <a:defRPr sz="1100">
                <a:solidFill>
                  <a:srgbClr val="4B5563"/>
                </a:solidFill>
                <a:latin typeface="Segoe UI"/>
              </a:defRPr>
            </a:pPr>
            <a:r>
              <a:t>Insert Screenshot:</a:t>
            </a:r>
            <a:br/>
            <a:r>
              <a:t>Admin / Driver Login &amp; Password Reset 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40480"/>
            <a:ext cx="5212080" cy="2103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20624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11827"/>
                </a:solidFill>
                <a:latin typeface="Segoe UI"/>
              </a:defRPr>
            </a:pPr>
            <a:r>
              <a:t>🗺️ Interactive Map &amp; Charging</a:t>
            </a:r>
          </a:p>
          <a:p>
            <a:pPr algn="ctr">
              <a:defRPr sz="1100">
                <a:solidFill>
                  <a:srgbClr val="4B5563"/>
                </a:solidFill>
                <a:latin typeface="Segoe UI"/>
              </a:defRPr>
            </a:pPr>
            <a:r>
              <a:t>Insert Screenshot:</a:t>
            </a:r>
            <a:br/>
            <a:r>
              <a:t>Leaflet Map with Open Charge Map Live Stations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30613"/>
                </a:solidFill>
                <a:latin typeface="Segoe UI"/>
              </a:defRPr>
            </a:pPr>
            <a:r>
              <a:t>11 | 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Segoe UI"/>
              </a:defRPr>
            </a:pPr>
            <a:r>
              <a:t>Project Summary &amp; Future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B5563"/>
                </a:solidFill>
                <a:latin typeface="Segoe UI"/>
              </a:defRPr>
            </a:pPr>
            <a:r>
              <a:t>VoltTrack — EV Telemetry &amp; Driver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Slide 12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120640" cy="4480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30613"/>
                </a:solidFill>
                <a:latin typeface="Segoe UI"/>
              </a:defRPr>
            </a:pPr>
            <a:r>
              <a:t>✅ Project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b="1" sz="1200">
                <a:solidFill>
                  <a:srgbClr val="111827"/>
                </a:solidFill>
              </a:defRPr>
            </a:pPr>
            <a:r>
              <a:t>• Full-Stack Execution: </a:t>
            </a:r>
            <a:r>
              <a:rPr b="0" sz="1100">
                <a:solidFill>
                  <a:srgbClr val="4B5563"/>
                </a:solidFill>
              </a:rPr>
              <a:t>Successfully developed an end-to-end EV fleet telematics software application from DB schema to interactive frontend.</a:t>
            </a:r>
          </a:p>
          <a:p>
            <a:pPr>
              <a:spcBef>
                <a:spcPts val="600"/>
              </a:spcBef>
              <a:defRPr b="1" sz="1200">
                <a:solidFill>
                  <a:srgbClr val="111827"/>
                </a:solidFill>
              </a:defRPr>
            </a:pPr>
            <a:r>
              <a:t>• Real Data Scale: </a:t>
            </a:r>
            <a:r>
              <a:rPr b="0" sz="1100">
                <a:solidFill>
                  <a:srgbClr val="4B5563"/>
                </a:solidFill>
              </a:rPr>
              <a:t>Engineered relational PostgreSQL schema handling 15k vehicles, 15k drivers, and 180k telemetry records seamlessly.</a:t>
            </a:r>
          </a:p>
          <a:p>
            <a:pPr>
              <a:spcBef>
                <a:spcPts val="600"/>
              </a:spcBef>
              <a:defRPr b="1" sz="1200">
                <a:solidFill>
                  <a:srgbClr val="111827"/>
                </a:solidFill>
              </a:defRPr>
            </a:pPr>
            <a:r>
              <a:t>• User-Centric Portals: </a:t>
            </a:r>
            <a:r>
              <a:rPr b="0" sz="1100">
                <a:solidFill>
                  <a:srgbClr val="4B5563"/>
                </a:solidFill>
              </a:rPr>
              <a:t>Delivered specialized, secure portals for both Fleet Admins and EV Drivers with live map and charging integration.</a:t>
            </a:r>
          </a:p>
          <a:p>
            <a:pPr>
              <a:spcBef>
                <a:spcPts val="600"/>
              </a:spcBef>
              <a:defRPr b="1" sz="1200">
                <a:solidFill>
                  <a:srgbClr val="111827"/>
                </a:solidFill>
              </a:defRPr>
            </a:pPr>
            <a:r>
              <a:t>• Data-Driven Intelligence: </a:t>
            </a:r>
            <a:r>
              <a:rPr b="0" sz="1100">
                <a:solidFill>
                  <a:srgbClr val="4B5563"/>
                </a:solidFill>
              </a:rPr>
              <a:t>Integrated machine learning prediction models to solve real-world EV range anxiety.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4805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1827"/>
                </a:solidFill>
                <a:latin typeface="Segoe UI"/>
              </a:defRPr>
            </a:pPr>
            <a:r>
              <a:t>🚀 Future Enhancement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0312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b="1" sz="1200">
                <a:solidFill>
                  <a:srgbClr val="111827"/>
                </a:solidFill>
              </a:defRPr>
            </a:pPr>
            <a:r>
              <a:t>• Live SMS Gateway: </a:t>
            </a:r>
            <a:r>
              <a:rPr b="0" sz="1100">
                <a:solidFill>
                  <a:srgbClr val="4B5563"/>
                </a:solidFill>
              </a:rPr>
              <a:t>Integrate Twilio / SMS gateway for real-time mobile OTP delivery during auth and emergency battery alerts.</a:t>
            </a:r>
          </a:p>
          <a:p>
            <a:pPr>
              <a:spcBef>
                <a:spcPts val="600"/>
              </a:spcBef>
              <a:defRPr b="1" sz="1200">
                <a:solidFill>
                  <a:srgbClr val="111827"/>
                </a:solidFill>
              </a:defRPr>
            </a:pPr>
            <a:r>
              <a:t>• IoT Telematics Stream: </a:t>
            </a:r>
            <a:r>
              <a:rPr b="0" sz="1100">
                <a:solidFill>
                  <a:srgbClr val="4B5563"/>
                </a:solidFill>
              </a:rPr>
              <a:t>Connect live MQTT / WebSockets streaming data pipelines for real-time vehicle telematics ingest directly from vehicle CAN bus.</a:t>
            </a:r>
          </a:p>
          <a:p>
            <a:pPr>
              <a:spcBef>
                <a:spcPts val="600"/>
              </a:spcBef>
              <a:defRPr b="1" sz="1200">
                <a:solidFill>
                  <a:srgbClr val="111827"/>
                </a:solidFill>
              </a:defRPr>
            </a:pPr>
            <a:r>
              <a:t>• Native Mobile Application: </a:t>
            </a:r>
            <a:r>
              <a:rPr b="0" sz="1100">
                <a:solidFill>
                  <a:srgbClr val="4B5563"/>
                </a:solidFill>
              </a:rPr>
              <a:t>Develop iOS &amp; Android native mobile apps using React Native for driver cockpit access on smartphones.</a:t>
            </a:r>
          </a:p>
          <a:p>
            <a:pPr>
              <a:spcBef>
                <a:spcPts val="600"/>
              </a:spcBef>
              <a:defRPr b="1" sz="1200">
                <a:solidFill>
                  <a:srgbClr val="111827"/>
                </a:solidFill>
              </a:defRPr>
            </a:pPr>
            <a:r>
              <a:t>• Live ML API Microservice: </a:t>
            </a:r>
            <a:r>
              <a:rPr b="0" sz="1100">
                <a:solidFill>
                  <a:srgbClr val="4B5563"/>
                </a:solidFill>
              </a:rPr>
              <a:t>Deploy the trained scikit-learn Random Forest model as a FastAPI microservice for real-time inference during active routes.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